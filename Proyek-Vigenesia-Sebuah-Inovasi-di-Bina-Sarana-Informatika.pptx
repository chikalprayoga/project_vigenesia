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Open Sans" panose="020B0606030504020204" pitchFamily="34"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6" d="100"/>
          <a:sy n="56"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8217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5942" b="51388"/>
          <a:stretch/>
        </p:blipFill>
        <p:spPr>
          <a:xfrm>
            <a:off x="139437" y="0"/>
            <a:ext cx="5207526" cy="8229600"/>
          </a:xfrm>
          <a:prstGeom prst="rect">
            <a:avLst/>
          </a:prstGeom>
        </p:spPr>
      </p:pic>
      <p:sp>
        <p:nvSpPr>
          <p:cNvPr id="3" name="Text 0"/>
          <p:cNvSpPr/>
          <p:nvPr/>
        </p:nvSpPr>
        <p:spPr>
          <a:xfrm>
            <a:off x="6280190" y="1656755"/>
            <a:ext cx="7556421" cy="2835116"/>
          </a:xfrm>
          <a:prstGeom prst="rect">
            <a:avLst/>
          </a:prstGeom>
          <a:noFill/>
          <a:ln/>
        </p:spPr>
        <p:txBody>
          <a:bodyPr wrap="square" lIns="0" tIns="0" rIns="0" bIns="0" rtlCol="0" anchor="t"/>
          <a:lstStyle/>
          <a:p>
            <a:pPr marL="0" indent="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Proyek Vigenesia: Sebuah Inovasi di Bina Sarana Informatika</a:t>
            </a:r>
            <a:endParaRPr lang="en-US" sz="4450" dirty="0"/>
          </a:p>
        </p:txBody>
      </p:sp>
      <p:sp>
        <p:nvSpPr>
          <p:cNvPr id="4" name="Text 1"/>
          <p:cNvSpPr/>
          <p:nvPr/>
        </p:nvSpPr>
        <p:spPr>
          <a:xfrm>
            <a:off x="6280190" y="4832033"/>
            <a:ext cx="7556421" cy="1088708"/>
          </a:xfrm>
          <a:prstGeom prst="rect">
            <a:avLst/>
          </a:prstGeom>
          <a:noFill/>
          <a:ln/>
        </p:spPr>
        <p:txBody>
          <a:bodyPr wrap="square" lIns="0" tIns="0" rIns="0" bIns="0" rtlCol="0" anchor="t"/>
          <a:lstStyle/>
          <a:p>
            <a:pPr marL="0" indent="0">
              <a:lnSpc>
                <a:spcPts val="2850"/>
              </a:lnSpc>
              <a:buNone/>
            </a:pPr>
            <a:r>
              <a:rPr lang="en-US" sz="1750" dirty="0">
                <a:solidFill>
                  <a:srgbClr val="333F70"/>
                </a:solidFill>
                <a:latin typeface="Open Sans" pitchFamily="34" charset="0"/>
                <a:ea typeface="Open Sans" pitchFamily="34" charset="-122"/>
                <a:cs typeface="Open Sans" pitchFamily="34" charset="-120"/>
              </a:rPr>
              <a:t>Selamat datang, mahasiswa BSI! Hari ini kita akan membahas proyek Vigenesia, sebuah proyek inovatif yang menggabungkan teknologi terkini untuk menciptakan aplikasi yang bermanfaat.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548414"/>
            <a:ext cx="13042821" cy="1417558"/>
          </a:xfrm>
          <a:prstGeom prst="rect">
            <a:avLst/>
          </a:prstGeom>
          <a:noFill/>
          <a:ln/>
        </p:spPr>
        <p:txBody>
          <a:bodyPr wrap="square" lIns="0" tIns="0" rIns="0" bIns="0" rtlCol="0" anchor="t"/>
          <a:lstStyle/>
          <a:p>
            <a:pPr marL="0" indent="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Anggota Tim:</a:t>
            </a:r>
            <a:endParaRPr lang="en-US" sz="4450" dirty="0"/>
          </a:p>
        </p:txBody>
      </p:sp>
      <p:sp>
        <p:nvSpPr>
          <p:cNvPr id="3" name="Text 1"/>
          <p:cNvSpPr/>
          <p:nvPr/>
        </p:nvSpPr>
        <p:spPr>
          <a:xfrm>
            <a:off x="793790" y="4532948"/>
            <a:ext cx="2835235" cy="354330"/>
          </a:xfrm>
          <a:prstGeom prst="rect">
            <a:avLst/>
          </a:prstGeom>
          <a:noFill/>
          <a:ln/>
        </p:spPr>
        <p:txBody>
          <a:bodyPr wrap="none" lIns="0" tIns="0" rIns="0" bIns="0" rtlCol="0" anchor="t"/>
          <a:lstStyle/>
          <a:p>
            <a:pPr marL="0" indent="0">
              <a:lnSpc>
                <a:spcPts val="2750"/>
              </a:lnSpc>
              <a:buNone/>
            </a:pPr>
            <a:r>
              <a:rPr lang="en-US" sz="2200" b="1" dirty="0" err="1">
                <a:solidFill>
                  <a:srgbClr val="333F70"/>
                </a:solidFill>
                <a:latin typeface="Unbounded Bold" pitchFamily="34" charset="0"/>
                <a:ea typeface="Unbounded Bold" pitchFamily="34" charset="-122"/>
                <a:cs typeface="Unbounded Bold" pitchFamily="34" charset="-120"/>
              </a:rPr>
              <a:t>Anngi</a:t>
            </a:r>
            <a:r>
              <a:rPr lang="en-US" sz="2200" b="1" dirty="0">
                <a:solidFill>
                  <a:srgbClr val="333F70"/>
                </a:solidFill>
                <a:latin typeface="Unbounded Bold" pitchFamily="34" charset="0"/>
                <a:ea typeface="Unbounded Bold" pitchFamily="34" charset="-122"/>
                <a:cs typeface="Unbounded Bold" pitchFamily="34" charset="-120"/>
              </a:rPr>
              <a:t> </a:t>
            </a:r>
            <a:r>
              <a:rPr lang="en-US" sz="2200" b="1" dirty="0" err="1">
                <a:solidFill>
                  <a:srgbClr val="333F70"/>
                </a:solidFill>
                <a:latin typeface="Unbounded Bold" pitchFamily="34" charset="0"/>
                <a:ea typeface="Unbounded Bold" pitchFamily="34" charset="-122"/>
                <a:cs typeface="Unbounded Bold" pitchFamily="34" charset="-120"/>
              </a:rPr>
              <a:t>Atmojo</a:t>
            </a:r>
            <a:endParaRPr lang="en-US" sz="2200" dirty="0"/>
          </a:p>
        </p:txBody>
      </p:sp>
      <p:sp>
        <p:nvSpPr>
          <p:cNvPr id="5" name="Text 3"/>
          <p:cNvSpPr/>
          <p:nvPr/>
        </p:nvSpPr>
        <p:spPr>
          <a:xfrm>
            <a:off x="5332928" y="4532948"/>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Wanda Eka S</a:t>
            </a:r>
            <a:endParaRPr lang="en-US" sz="2200" dirty="0"/>
          </a:p>
        </p:txBody>
      </p:sp>
      <p:sp>
        <p:nvSpPr>
          <p:cNvPr id="7" name="Text 5"/>
          <p:cNvSpPr/>
          <p:nvPr/>
        </p:nvSpPr>
        <p:spPr>
          <a:xfrm>
            <a:off x="9872067" y="4532948"/>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Dimas Chikal Prayoga</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24792" r="15625" b="39259"/>
          <a:stretch/>
        </p:blipFill>
        <p:spPr>
          <a:xfrm>
            <a:off x="0" y="0"/>
            <a:ext cx="5979841" cy="8229600"/>
          </a:xfrm>
          <a:prstGeom prst="rect">
            <a:avLst/>
          </a:prstGeom>
        </p:spPr>
      </p:pic>
      <p:sp>
        <p:nvSpPr>
          <p:cNvPr id="3" name="Text 0"/>
          <p:cNvSpPr/>
          <p:nvPr/>
        </p:nvSpPr>
        <p:spPr>
          <a:xfrm>
            <a:off x="6280189" y="595551"/>
            <a:ext cx="7556421" cy="1417558"/>
          </a:xfrm>
          <a:prstGeom prst="rect">
            <a:avLst/>
          </a:prstGeom>
          <a:noFill/>
          <a:ln/>
        </p:spPr>
        <p:txBody>
          <a:bodyPr wrap="square" lIns="0" tIns="0" rIns="0" bIns="0" rtlCol="0" anchor="t"/>
          <a:lstStyle/>
          <a:p>
            <a:pPr marL="0" indent="0">
              <a:lnSpc>
                <a:spcPts val="5550"/>
              </a:lnSpc>
              <a:buNone/>
            </a:pPr>
            <a:r>
              <a:rPr lang="en-US" sz="4800" b="1" dirty="0">
                <a:solidFill>
                  <a:srgbClr val="333F70"/>
                </a:solidFill>
                <a:latin typeface="Unbounded Bold" pitchFamily="34" charset="0"/>
                <a:ea typeface="Unbounded Bold" pitchFamily="34" charset="-122"/>
                <a:cs typeface="Unbounded Bold" pitchFamily="34" charset="-120"/>
              </a:rPr>
              <a:t>Pendahuluan: Latar Belakang Proyek</a:t>
            </a:r>
            <a:endParaRPr lang="en-US" sz="4800" dirty="0"/>
          </a:p>
        </p:txBody>
      </p:sp>
      <p:sp>
        <p:nvSpPr>
          <p:cNvPr id="4" name="Text 1"/>
          <p:cNvSpPr/>
          <p:nvPr/>
        </p:nvSpPr>
        <p:spPr>
          <a:xfrm>
            <a:off x="6280190" y="3256240"/>
            <a:ext cx="7556421" cy="2903220"/>
          </a:xfrm>
          <a:prstGeom prst="rect">
            <a:avLst/>
          </a:prstGeom>
          <a:noFill/>
          <a:ln/>
        </p:spPr>
        <p:txBody>
          <a:bodyPr wrap="square" lIns="0" tIns="0" rIns="0" bIns="0" rtlCol="0" anchor="t"/>
          <a:lstStyle/>
          <a:p>
            <a:pPr marL="0" indent="0">
              <a:lnSpc>
                <a:spcPts val="2850"/>
              </a:lnSpc>
              <a:buNone/>
            </a:pPr>
            <a:r>
              <a:rPr lang="en-US" sz="2400" dirty="0">
                <a:solidFill>
                  <a:srgbClr val="333F70"/>
                </a:solidFill>
                <a:latin typeface="Open Sans" pitchFamily="34" charset="0"/>
                <a:ea typeface="Open Sans" pitchFamily="34" charset="-122"/>
                <a:cs typeface="Open Sans" pitchFamily="34" charset="-120"/>
              </a:rPr>
              <a:t>Projek Vigenesia adalah inisiatif yang dirancang untuk melatih mahasiswa UBSI dalam mengembangkan aplikasi berbasis layanan web dan mobile. Melalui proyek ini, mahasiswa diajarkan untuk mengintegrasikan teknologi terkini seperti Flutter, CodeIgniter, dan Ngrok guna menciptakan solusi digital yang responsif dan efisien. Tujuannya adalah membangun kemampuan teknis, kolaborasi, dan pemahaman mendalam tentang konsep RESTful API, yang relevan dengan kebutuhan industri digital saat ini.</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29600"/>
          </a:xfrm>
          <a:prstGeom prst="rect">
            <a:avLst/>
          </a:prstGeom>
        </p:spPr>
      </p:pic>
      <p:sp>
        <p:nvSpPr>
          <p:cNvPr id="3" name="Text 0"/>
          <p:cNvSpPr/>
          <p:nvPr/>
        </p:nvSpPr>
        <p:spPr>
          <a:xfrm>
            <a:off x="793908" y="678537"/>
            <a:ext cx="9385221" cy="1417558"/>
          </a:xfrm>
          <a:prstGeom prst="rect">
            <a:avLst/>
          </a:prstGeom>
          <a:noFill/>
          <a:ln/>
        </p:spPr>
        <p:txBody>
          <a:bodyPr wrap="square" lIns="0" tIns="0" rIns="0" bIns="0" rtlCol="0" anchor="t"/>
          <a:lstStyle/>
          <a:p>
            <a:pPr marL="0" indent="0">
              <a:lnSpc>
                <a:spcPts val="5550"/>
              </a:lnSpc>
              <a:buNone/>
            </a:pPr>
            <a:r>
              <a:rPr lang="en-US" sz="5400" b="1" dirty="0">
                <a:solidFill>
                  <a:srgbClr val="333F70"/>
                </a:solidFill>
                <a:latin typeface="Unbounded Bold" pitchFamily="34" charset="0"/>
                <a:ea typeface="Unbounded Bold" pitchFamily="34" charset="-122"/>
                <a:cs typeface="Unbounded Bold" pitchFamily="34" charset="-120"/>
              </a:rPr>
              <a:t>Mengenal Vigenesia: Sebuah Platform Inovatif</a:t>
            </a:r>
            <a:endParaRPr lang="en-US" sz="5400" dirty="0"/>
          </a:p>
        </p:txBody>
      </p:sp>
      <p:sp>
        <p:nvSpPr>
          <p:cNvPr id="4" name="Shape 1"/>
          <p:cNvSpPr/>
          <p:nvPr/>
        </p:nvSpPr>
        <p:spPr>
          <a:xfrm>
            <a:off x="793790" y="3605808"/>
            <a:ext cx="396835" cy="396835"/>
          </a:xfrm>
          <a:prstGeom prst="roundRect">
            <a:avLst>
              <a:gd name="adj" fmla="val 24007"/>
            </a:avLst>
          </a:prstGeom>
          <a:solidFill>
            <a:srgbClr val="D6F5EE"/>
          </a:solidFill>
          <a:ln w="7620">
            <a:solidFill>
              <a:srgbClr val="BCDBD4"/>
            </a:solidFill>
            <a:prstDash val="solid"/>
          </a:ln>
        </p:spPr>
      </p:sp>
      <p:sp>
        <p:nvSpPr>
          <p:cNvPr id="5" name="Text 2"/>
          <p:cNvSpPr/>
          <p:nvPr/>
        </p:nvSpPr>
        <p:spPr>
          <a:xfrm>
            <a:off x="1417439" y="3605808"/>
            <a:ext cx="3330535" cy="354330"/>
          </a:xfrm>
          <a:prstGeom prst="rect">
            <a:avLst/>
          </a:prstGeom>
          <a:noFill/>
          <a:ln/>
        </p:spPr>
        <p:txBody>
          <a:bodyPr wrap="none" lIns="0" tIns="0" rIns="0" bIns="0" rtlCol="0" anchor="t"/>
          <a:lstStyle/>
          <a:p>
            <a:pPr marL="0" indent="0">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Vigenesia adalah...</a:t>
            </a:r>
            <a:endParaRPr lang="en-US" sz="2800" dirty="0"/>
          </a:p>
        </p:txBody>
      </p:sp>
      <p:sp>
        <p:nvSpPr>
          <p:cNvPr id="6" name="Text 3"/>
          <p:cNvSpPr/>
          <p:nvPr/>
        </p:nvSpPr>
        <p:spPr>
          <a:xfrm>
            <a:off x="1417439" y="4096226"/>
            <a:ext cx="3955613" cy="2177415"/>
          </a:xfrm>
          <a:prstGeom prst="rect">
            <a:avLst/>
          </a:prstGeom>
          <a:noFill/>
          <a:ln/>
        </p:spPr>
        <p:txBody>
          <a:bodyPr wrap="square" lIns="0" tIns="0" rIns="0" bIns="0" rtlCol="0" anchor="t"/>
          <a:lstStyle/>
          <a:p>
            <a:pPr marL="0" indent="0">
              <a:lnSpc>
                <a:spcPts val="2850"/>
              </a:lnSpc>
              <a:buNone/>
            </a:pPr>
            <a:r>
              <a:rPr lang="en-US" sz="2000" dirty="0">
                <a:solidFill>
                  <a:srgbClr val="333F70"/>
                </a:solidFill>
                <a:latin typeface="Open Sans" pitchFamily="34" charset="0"/>
                <a:ea typeface="Open Sans" pitchFamily="34" charset="-122"/>
                <a:cs typeface="Open Sans" pitchFamily="34" charset="-120"/>
              </a:rPr>
              <a:t>Vigenesia adalah proyek pengembangan aplikasi berbasis layanan web yang dirancang untuk melatih mahasiswa dalam menggunakan teknologi modern seperti Flutter dan CodeIgniter.</a:t>
            </a:r>
            <a:endParaRPr lang="en-US" sz="2000" dirty="0"/>
          </a:p>
        </p:txBody>
      </p:sp>
      <p:sp>
        <p:nvSpPr>
          <p:cNvPr id="7" name="Shape 4"/>
          <p:cNvSpPr/>
          <p:nvPr/>
        </p:nvSpPr>
        <p:spPr>
          <a:xfrm>
            <a:off x="5599867" y="3605808"/>
            <a:ext cx="396835" cy="396835"/>
          </a:xfrm>
          <a:prstGeom prst="roundRect">
            <a:avLst>
              <a:gd name="adj" fmla="val 24007"/>
            </a:avLst>
          </a:prstGeom>
          <a:solidFill>
            <a:srgbClr val="D6F5EE"/>
          </a:solidFill>
          <a:ln w="7620">
            <a:solidFill>
              <a:srgbClr val="BCDBD4"/>
            </a:solidFill>
            <a:prstDash val="solid"/>
          </a:ln>
        </p:spPr>
      </p:sp>
      <p:sp>
        <p:nvSpPr>
          <p:cNvPr id="8" name="Text 5"/>
          <p:cNvSpPr/>
          <p:nvPr/>
        </p:nvSpPr>
        <p:spPr>
          <a:xfrm>
            <a:off x="6223516" y="3605808"/>
            <a:ext cx="3684746" cy="354330"/>
          </a:xfrm>
          <a:prstGeom prst="rect">
            <a:avLst/>
          </a:prstGeom>
          <a:noFill/>
          <a:ln/>
        </p:spPr>
        <p:txBody>
          <a:bodyPr wrap="none" lIns="0" tIns="0" rIns="0" bIns="0" rtlCol="0" anchor="t"/>
          <a:lstStyle/>
          <a:p>
            <a:pPr marL="0" indent="0">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Platform Vigenesia...</a:t>
            </a:r>
            <a:endParaRPr lang="en-US" sz="2800" dirty="0"/>
          </a:p>
        </p:txBody>
      </p:sp>
      <p:sp>
        <p:nvSpPr>
          <p:cNvPr id="9" name="Text 6"/>
          <p:cNvSpPr/>
          <p:nvPr/>
        </p:nvSpPr>
        <p:spPr>
          <a:xfrm>
            <a:off x="6223516" y="4096226"/>
            <a:ext cx="3955613" cy="2540318"/>
          </a:xfrm>
          <a:prstGeom prst="rect">
            <a:avLst/>
          </a:prstGeom>
          <a:noFill/>
          <a:ln/>
        </p:spPr>
        <p:txBody>
          <a:bodyPr wrap="square" lIns="0" tIns="0" rIns="0" bIns="0" rtlCol="0" anchor="t"/>
          <a:lstStyle/>
          <a:p>
            <a:pPr marL="0" indent="0">
              <a:lnSpc>
                <a:spcPts val="2850"/>
              </a:lnSpc>
              <a:buNone/>
            </a:pPr>
            <a:r>
              <a:rPr lang="en-US" sz="2000" dirty="0">
                <a:solidFill>
                  <a:srgbClr val="333F70"/>
                </a:solidFill>
                <a:latin typeface="Open Sans" pitchFamily="34" charset="0"/>
                <a:ea typeface="Open Sans" pitchFamily="34" charset="-122"/>
                <a:cs typeface="Open Sans" pitchFamily="34" charset="-120"/>
              </a:rPr>
              <a:t>Platform Vigenesia adalah kombinasi dari teknologi front-end dan back-end berbasis Flutter, CodeIgniter, serta Ngrok untuk mendukung pengembangan aplikasi yang dinamis dan terhubung ke jaringan global.</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48295"/>
            <a:ext cx="7556421" cy="2835116"/>
          </a:xfrm>
          <a:prstGeom prst="rect">
            <a:avLst/>
          </a:prstGeom>
          <a:noFill/>
          <a:ln/>
        </p:spPr>
        <p:txBody>
          <a:bodyPr wrap="square" lIns="0" tIns="0" rIns="0" bIns="0" rtlCol="0" anchor="t"/>
          <a:lstStyle/>
          <a:p>
            <a:pPr marL="0" indent="0">
              <a:lnSpc>
                <a:spcPts val="5550"/>
              </a:lnSpc>
              <a:buNone/>
            </a:pPr>
            <a:r>
              <a:rPr lang="en-US" sz="4800" b="1" dirty="0">
                <a:solidFill>
                  <a:srgbClr val="333F70"/>
                </a:solidFill>
                <a:latin typeface="Unbounded Bold" pitchFamily="34" charset="0"/>
                <a:ea typeface="Unbounded Bold" pitchFamily="34" charset="-122"/>
                <a:cs typeface="Unbounded Bold" pitchFamily="34" charset="-120"/>
              </a:rPr>
              <a:t>Flutter: Teknologi Masa Depan untuk Pengembangan Aplikasi</a:t>
            </a:r>
            <a:endParaRPr lang="en-US" sz="4800" dirty="0"/>
          </a:p>
        </p:txBody>
      </p:sp>
      <p:sp>
        <p:nvSpPr>
          <p:cNvPr id="4" name="Text 1"/>
          <p:cNvSpPr/>
          <p:nvPr/>
        </p:nvSpPr>
        <p:spPr>
          <a:xfrm>
            <a:off x="793790" y="4212193"/>
            <a:ext cx="7556421" cy="1814513"/>
          </a:xfrm>
          <a:prstGeom prst="rect">
            <a:avLst/>
          </a:prstGeom>
          <a:noFill/>
          <a:ln/>
        </p:spPr>
        <p:txBody>
          <a:bodyPr wrap="square" lIns="0" tIns="0" rIns="0" bIns="0" rtlCol="0" anchor="t"/>
          <a:lstStyle/>
          <a:p>
            <a:pPr marL="0" indent="0">
              <a:lnSpc>
                <a:spcPts val="2850"/>
              </a:lnSpc>
              <a:buNone/>
            </a:pPr>
            <a:r>
              <a:rPr lang="en-US" sz="2400" dirty="0">
                <a:solidFill>
                  <a:srgbClr val="333F70"/>
                </a:solidFill>
                <a:latin typeface="Open Sans" pitchFamily="34" charset="0"/>
                <a:ea typeface="Open Sans" pitchFamily="34" charset="-122"/>
                <a:cs typeface="Open Sans" pitchFamily="34" charset="-120"/>
              </a:rPr>
              <a:t>Flutter adalah framework open-source buatan Google yang digunakan untuk membangun aplikasi multiplatform (Android, iOS, web, dan desktop) dengan satu basis kode. Dengan menggunakan bahasa pemrograman Dart, Flutter memungkinkan pengembangan aplikasi yang cepat, memiliki performa tinggi, dan antarmuka yang menarik.</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451390" y="661630"/>
            <a:ext cx="9385221" cy="2126337"/>
          </a:xfrm>
          <a:prstGeom prst="rect">
            <a:avLst/>
          </a:prstGeom>
          <a:noFill/>
          <a:ln/>
        </p:spPr>
        <p:txBody>
          <a:bodyPr wrap="square" lIns="0" tIns="0" rIns="0" bIns="0" rtlCol="0" anchor="t"/>
          <a:lstStyle/>
          <a:p>
            <a:pPr marL="0" indent="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Manfaat Proyek Vigenesia bagi Mahasiswa</a:t>
            </a:r>
            <a:endParaRPr lang="en-US" sz="4450" dirty="0"/>
          </a:p>
        </p:txBody>
      </p:sp>
      <p:sp>
        <p:nvSpPr>
          <p:cNvPr id="4" name="Shape 1"/>
          <p:cNvSpPr/>
          <p:nvPr/>
        </p:nvSpPr>
        <p:spPr>
          <a:xfrm>
            <a:off x="4451390" y="3303270"/>
            <a:ext cx="4579263" cy="3967401"/>
          </a:xfrm>
          <a:prstGeom prst="roundRect">
            <a:avLst>
              <a:gd name="adj" fmla="val 2477"/>
            </a:avLst>
          </a:prstGeom>
          <a:solidFill>
            <a:srgbClr val="D6F5EE"/>
          </a:solidFill>
          <a:ln w="7620">
            <a:solidFill>
              <a:srgbClr val="BCDBD4"/>
            </a:solidFill>
            <a:prstDash val="solid"/>
          </a:ln>
        </p:spPr>
      </p:sp>
      <p:sp>
        <p:nvSpPr>
          <p:cNvPr id="5" name="Text 2"/>
          <p:cNvSpPr/>
          <p:nvPr/>
        </p:nvSpPr>
        <p:spPr>
          <a:xfrm>
            <a:off x="4685824" y="3637252"/>
            <a:ext cx="4110395" cy="731151"/>
          </a:xfrm>
          <a:prstGeom prst="rect">
            <a:avLst/>
          </a:prstGeom>
          <a:noFill/>
          <a:ln/>
        </p:spPr>
        <p:txBody>
          <a:bodyPr wrap="square" lIns="0" tIns="0" rIns="0" bIns="0" rtlCol="0" anchor="t"/>
          <a:lstStyle/>
          <a:p>
            <a:pPr marL="0" indent="0">
              <a:lnSpc>
                <a:spcPts val="2750"/>
              </a:lnSpc>
              <a:buNone/>
            </a:pPr>
            <a:r>
              <a:rPr lang="en-US" sz="2400" b="1" dirty="0">
                <a:solidFill>
                  <a:srgbClr val="333F70"/>
                </a:solidFill>
                <a:latin typeface="Unbounded Bold" pitchFamily="34" charset="0"/>
                <a:ea typeface="Unbounded Bold" pitchFamily="34" charset="-122"/>
                <a:cs typeface="Unbounded Bold" pitchFamily="34" charset="-120"/>
              </a:rPr>
              <a:t>Pengembangan Keterampilan</a:t>
            </a:r>
            <a:endParaRPr lang="en-US" sz="2400" dirty="0"/>
          </a:p>
        </p:txBody>
      </p:sp>
      <p:sp>
        <p:nvSpPr>
          <p:cNvPr id="6" name="Text 3"/>
          <p:cNvSpPr/>
          <p:nvPr/>
        </p:nvSpPr>
        <p:spPr>
          <a:xfrm>
            <a:off x="4685824" y="4446906"/>
            <a:ext cx="4110395" cy="1872100"/>
          </a:xfrm>
          <a:prstGeom prst="rect">
            <a:avLst/>
          </a:prstGeom>
          <a:noFill/>
          <a:ln/>
        </p:spPr>
        <p:txBody>
          <a:bodyPr wrap="square" lIns="0" tIns="0" rIns="0" bIns="0" rtlCol="0" anchor="t"/>
          <a:lstStyle/>
          <a:p>
            <a:pPr marL="0" indent="0">
              <a:lnSpc>
                <a:spcPts val="2850"/>
              </a:lnSpc>
              <a:buNone/>
            </a:pPr>
            <a:r>
              <a:rPr lang="en-US" dirty="0">
                <a:solidFill>
                  <a:srgbClr val="333F70"/>
                </a:solidFill>
                <a:latin typeface="Open Sans" pitchFamily="34" charset="0"/>
                <a:ea typeface="Open Sans" pitchFamily="34" charset="-122"/>
                <a:cs typeface="Open Sans" pitchFamily="34" charset="-120"/>
              </a:rPr>
              <a:t>Mahasiswa memperoleh pengalaman langsung dalam menggunakan teknologi terkini seperti Flutter dan CodeIgniter untuk membangun aplikasi.</a:t>
            </a:r>
            <a:endParaRPr lang="en-US" dirty="0"/>
          </a:p>
        </p:txBody>
      </p:sp>
      <p:sp>
        <p:nvSpPr>
          <p:cNvPr id="7" name="Shape 4"/>
          <p:cNvSpPr/>
          <p:nvPr/>
        </p:nvSpPr>
        <p:spPr>
          <a:xfrm>
            <a:off x="9257467" y="3303270"/>
            <a:ext cx="4579263" cy="3967401"/>
          </a:xfrm>
          <a:prstGeom prst="roundRect">
            <a:avLst>
              <a:gd name="adj" fmla="val 2477"/>
            </a:avLst>
          </a:prstGeom>
          <a:solidFill>
            <a:srgbClr val="D6F5EE"/>
          </a:solidFill>
          <a:ln w="7620">
            <a:solidFill>
              <a:srgbClr val="BCDBD4"/>
            </a:solidFill>
            <a:prstDash val="solid"/>
          </a:ln>
        </p:spPr>
      </p:sp>
      <p:sp>
        <p:nvSpPr>
          <p:cNvPr id="8" name="Text 5"/>
          <p:cNvSpPr/>
          <p:nvPr/>
        </p:nvSpPr>
        <p:spPr>
          <a:xfrm>
            <a:off x="9491901" y="3626007"/>
            <a:ext cx="4110395" cy="1096726"/>
          </a:xfrm>
          <a:prstGeom prst="rect">
            <a:avLst/>
          </a:prstGeom>
          <a:noFill/>
          <a:ln/>
        </p:spPr>
        <p:txBody>
          <a:bodyPr wrap="square" lIns="0" tIns="0" rIns="0" bIns="0" rtlCol="0" anchor="t"/>
          <a:lstStyle/>
          <a:p>
            <a:pPr marL="0" indent="0">
              <a:lnSpc>
                <a:spcPts val="2750"/>
              </a:lnSpc>
              <a:buNone/>
            </a:pPr>
            <a:r>
              <a:rPr lang="en-US" sz="2400" b="1" dirty="0">
                <a:solidFill>
                  <a:srgbClr val="333F70"/>
                </a:solidFill>
                <a:latin typeface="Unbounded Bold" pitchFamily="34" charset="0"/>
                <a:ea typeface="Unbounded Bold" pitchFamily="34" charset="-122"/>
                <a:cs typeface="Unbounded Bold" pitchFamily="34" charset="-120"/>
              </a:rPr>
              <a:t>Peningkatan Kemampuan Kolaborasi</a:t>
            </a:r>
            <a:endParaRPr lang="en-US" sz="2400" dirty="0"/>
          </a:p>
        </p:txBody>
      </p:sp>
      <p:sp>
        <p:nvSpPr>
          <p:cNvPr id="9" name="Text 6"/>
          <p:cNvSpPr/>
          <p:nvPr/>
        </p:nvSpPr>
        <p:spPr>
          <a:xfrm>
            <a:off x="9491901" y="4789718"/>
            <a:ext cx="4110395" cy="2246519"/>
          </a:xfrm>
          <a:prstGeom prst="rect">
            <a:avLst/>
          </a:prstGeom>
          <a:noFill/>
          <a:ln/>
        </p:spPr>
        <p:txBody>
          <a:bodyPr wrap="square" lIns="0" tIns="0" rIns="0" bIns="0" rtlCol="0" anchor="t"/>
          <a:lstStyle/>
          <a:p>
            <a:pPr marL="0" indent="0">
              <a:lnSpc>
                <a:spcPts val="2850"/>
              </a:lnSpc>
              <a:buNone/>
            </a:pPr>
            <a:r>
              <a:rPr lang="en-US" dirty="0">
                <a:solidFill>
                  <a:srgbClr val="333F70"/>
                </a:solidFill>
                <a:latin typeface="Open Sans" pitchFamily="34" charset="0"/>
                <a:ea typeface="Open Sans" pitchFamily="34" charset="-122"/>
                <a:cs typeface="Open Sans" pitchFamily="34" charset="-120"/>
              </a:rPr>
              <a:t>Proyek ini melatih mahasiswa untuk bekerja dalam tim, menyelesaikan masalah secara bersama, dan membangun aplikasi secara kolaboratif sesuai dengan standar industri.</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755571"/>
            <a:ext cx="7556421" cy="2126337"/>
          </a:xfrm>
          <a:prstGeom prst="rect">
            <a:avLst/>
          </a:prstGeom>
          <a:noFill/>
          <a:ln/>
        </p:spPr>
        <p:txBody>
          <a:bodyPr wrap="square" lIns="0" tIns="0" rIns="0" bIns="0" rtlCol="0" anchor="t"/>
          <a:lstStyle/>
          <a:p>
            <a:pPr marL="0" indent="0">
              <a:lnSpc>
                <a:spcPts val="5550"/>
              </a:lnSpc>
              <a:buNone/>
            </a:pPr>
            <a:r>
              <a:rPr lang="en-US" sz="4800" b="1" dirty="0">
                <a:solidFill>
                  <a:srgbClr val="333F70"/>
                </a:solidFill>
                <a:latin typeface="Unbounded Bold" pitchFamily="34" charset="0"/>
                <a:ea typeface="Unbounded Bold" pitchFamily="34" charset="-122"/>
                <a:cs typeface="Unbounded Bold" pitchFamily="34" charset="-120"/>
              </a:rPr>
              <a:t>Software yang Dibutuhkan untuk Proyek Vigenesia</a:t>
            </a:r>
            <a:endParaRPr lang="en-US" sz="4800" dirty="0"/>
          </a:p>
        </p:txBody>
      </p:sp>
      <p:sp>
        <p:nvSpPr>
          <p:cNvPr id="4" name="Shape 1"/>
          <p:cNvSpPr/>
          <p:nvPr/>
        </p:nvSpPr>
        <p:spPr>
          <a:xfrm>
            <a:off x="1118711" y="3896439"/>
            <a:ext cx="30480" cy="2903220"/>
          </a:xfrm>
          <a:prstGeom prst="roundRect">
            <a:avLst>
              <a:gd name="adj" fmla="val 312558"/>
            </a:avLst>
          </a:prstGeom>
          <a:solidFill>
            <a:srgbClr val="BCDBD4"/>
          </a:solidFill>
          <a:ln/>
        </p:spPr>
      </p:sp>
      <p:sp>
        <p:nvSpPr>
          <p:cNvPr id="5" name="Shape 2"/>
          <p:cNvSpPr/>
          <p:nvPr/>
        </p:nvSpPr>
        <p:spPr>
          <a:xfrm>
            <a:off x="1358622" y="4391501"/>
            <a:ext cx="793790" cy="30480"/>
          </a:xfrm>
          <a:prstGeom prst="roundRect">
            <a:avLst>
              <a:gd name="adj" fmla="val 312558"/>
            </a:avLst>
          </a:prstGeom>
          <a:solidFill>
            <a:srgbClr val="BCDBD4"/>
          </a:solidFill>
          <a:ln/>
        </p:spPr>
      </p:sp>
      <p:sp>
        <p:nvSpPr>
          <p:cNvPr id="6" name="Shape 3"/>
          <p:cNvSpPr/>
          <p:nvPr/>
        </p:nvSpPr>
        <p:spPr>
          <a:xfrm>
            <a:off x="878800" y="4151590"/>
            <a:ext cx="510302" cy="510302"/>
          </a:xfrm>
          <a:prstGeom prst="roundRect">
            <a:avLst>
              <a:gd name="adj" fmla="val 18669"/>
            </a:avLst>
          </a:prstGeom>
          <a:solidFill>
            <a:srgbClr val="D6F5EE"/>
          </a:solidFill>
          <a:ln w="7620">
            <a:solidFill>
              <a:srgbClr val="BCDBD4"/>
            </a:solidFill>
            <a:prstDash val="solid"/>
          </a:ln>
        </p:spPr>
      </p:sp>
      <p:sp>
        <p:nvSpPr>
          <p:cNvPr id="7" name="Text 4"/>
          <p:cNvSpPr/>
          <p:nvPr/>
        </p:nvSpPr>
        <p:spPr>
          <a:xfrm>
            <a:off x="1045488" y="4293751"/>
            <a:ext cx="176927" cy="340281"/>
          </a:xfrm>
          <a:prstGeom prst="rect">
            <a:avLst/>
          </a:prstGeom>
          <a:noFill/>
          <a:ln/>
        </p:spPr>
        <p:txBody>
          <a:bodyPr wrap="none" lIns="0" tIns="0" rIns="0" bIns="0" rtlCol="0" anchor="t"/>
          <a:lstStyle/>
          <a:p>
            <a:pPr marL="0" indent="0" algn="ctr">
              <a:lnSpc>
                <a:spcPts val="2650"/>
              </a:lnSpc>
              <a:buNone/>
            </a:pPr>
            <a:r>
              <a:rPr lang="en-US" sz="3600" b="1" dirty="0">
                <a:solidFill>
                  <a:srgbClr val="333F70"/>
                </a:solidFill>
                <a:latin typeface="Unbounded Bold" pitchFamily="34" charset="0"/>
                <a:ea typeface="Unbounded Bold" pitchFamily="34" charset="-122"/>
                <a:cs typeface="Unbounded Bold" pitchFamily="34" charset="-120"/>
              </a:rPr>
              <a:t>1</a:t>
            </a:r>
            <a:endParaRPr lang="en-US" sz="3600" dirty="0"/>
          </a:p>
        </p:txBody>
      </p:sp>
      <p:sp>
        <p:nvSpPr>
          <p:cNvPr id="8" name="Text 5"/>
          <p:cNvSpPr/>
          <p:nvPr/>
        </p:nvSpPr>
        <p:spPr>
          <a:xfrm>
            <a:off x="2381488" y="4123253"/>
            <a:ext cx="5968722" cy="362903"/>
          </a:xfrm>
          <a:prstGeom prst="rect">
            <a:avLst/>
          </a:prstGeom>
          <a:noFill/>
          <a:ln/>
        </p:spPr>
        <p:txBody>
          <a:bodyPr wrap="none" lIns="0" tIns="0" rIns="0" bIns="0" rtlCol="0" anchor="t"/>
          <a:lstStyle/>
          <a:p>
            <a:pPr marL="0" indent="0" algn="l">
              <a:lnSpc>
                <a:spcPts val="2850"/>
              </a:lnSpc>
              <a:buNone/>
            </a:pPr>
            <a:r>
              <a:rPr lang="en-US" sz="3200" dirty="0">
                <a:solidFill>
                  <a:srgbClr val="333F70"/>
                </a:solidFill>
                <a:latin typeface="Open Sans" pitchFamily="34" charset="0"/>
                <a:ea typeface="Open Sans" pitchFamily="34" charset="-122"/>
                <a:cs typeface="Open Sans" pitchFamily="34" charset="-120"/>
              </a:rPr>
              <a:t>Flutter</a:t>
            </a:r>
            <a:endParaRPr lang="en-US" sz="3200" dirty="0"/>
          </a:p>
        </p:txBody>
      </p:sp>
      <p:sp>
        <p:nvSpPr>
          <p:cNvPr id="9" name="Shape 6"/>
          <p:cNvSpPr/>
          <p:nvPr/>
        </p:nvSpPr>
        <p:spPr>
          <a:xfrm>
            <a:off x="1358622" y="5434846"/>
            <a:ext cx="793790" cy="30480"/>
          </a:xfrm>
          <a:prstGeom prst="roundRect">
            <a:avLst>
              <a:gd name="adj" fmla="val 312558"/>
            </a:avLst>
          </a:prstGeom>
          <a:solidFill>
            <a:srgbClr val="BCDBD4"/>
          </a:solidFill>
          <a:ln/>
        </p:spPr>
      </p:sp>
      <p:sp>
        <p:nvSpPr>
          <p:cNvPr id="10" name="Shape 7"/>
          <p:cNvSpPr/>
          <p:nvPr/>
        </p:nvSpPr>
        <p:spPr>
          <a:xfrm>
            <a:off x="878800" y="5252085"/>
            <a:ext cx="510302" cy="510302"/>
          </a:xfrm>
          <a:prstGeom prst="roundRect">
            <a:avLst>
              <a:gd name="adj" fmla="val 18669"/>
            </a:avLst>
          </a:prstGeom>
          <a:solidFill>
            <a:srgbClr val="D6F5EE"/>
          </a:solidFill>
          <a:ln w="7620">
            <a:solidFill>
              <a:srgbClr val="BCDBD4"/>
            </a:solidFill>
            <a:prstDash val="solid"/>
          </a:ln>
        </p:spPr>
      </p:sp>
      <p:sp>
        <p:nvSpPr>
          <p:cNvPr id="11" name="Text 8"/>
          <p:cNvSpPr/>
          <p:nvPr/>
        </p:nvSpPr>
        <p:spPr>
          <a:xfrm>
            <a:off x="991910" y="5279946"/>
            <a:ext cx="284083" cy="340281"/>
          </a:xfrm>
          <a:prstGeom prst="rect">
            <a:avLst/>
          </a:prstGeom>
          <a:noFill/>
          <a:ln/>
        </p:spPr>
        <p:txBody>
          <a:bodyPr wrap="none" lIns="0" tIns="0" rIns="0" bIns="0" rtlCol="0" anchor="t"/>
          <a:lstStyle/>
          <a:p>
            <a:pPr marL="0" indent="0" algn="ctr">
              <a:lnSpc>
                <a:spcPts val="2650"/>
              </a:lnSpc>
              <a:buNone/>
            </a:pPr>
            <a:r>
              <a:rPr lang="en-US" sz="3600" b="1" dirty="0">
                <a:solidFill>
                  <a:srgbClr val="333F70"/>
                </a:solidFill>
                <a:latin typeface="Unbounded Bold" pitchFamily="34" charset="0"/>
                <a:ea typeface="Unbounded Bold" pitchFamily="34" charset="-122"/>
                <a:cs typeface="Unbounded Bold" pitchFamily="34" charset="-120"/>
              </a:rPr>
              <a:t>2</a:t>
            </a:r>
            <a:endParaRPr lang="en-US" sz="3600" dirty="0"/>
          </a:p>
        </p:txBody>
      </p:sp>
      <p:sp>
        <p:nvSpPr>
          <p:cNvPr id="12" name="Text 9"/>
          <p:cNvSpPr/>
          <p:nvPr/>
        </p:nvSpPr>
        <p:spPr>
          <a:xfrm>
            <a:off x="2381488" y="5166598"/>
            <a:ext cx="5968722" cy="362903"/>
          </a:xfrm>
          <a:prstGeom prst="rect">
            <a:avLst/>
          </a:prstGeom>
          <a:noFill/>
          <a:ln/>
        </p:spPr>
        <p:txBody>
          <a:bodyPr wrap="none" lIns="0" tIns="0" rIns="0" bIns="0" rtlCol="0" anchor="t"/>
          <a:lstStyle/>
          <a:p>
            <a:pPr marL="0" indent="0" algn="l">
              <a:lnSpc>
                <a:spcPts val="2850"/>
              </a:lnSpc>
              <a:buNone/>
            </a:pPr>
            <a:r>
              <a:rPr lang="en-US" sz="3200" dirty="0">
                <a:solidFill>
                  <a:srgbClr val="333F70"/>
                </a:solidFill>
                <a:latin typeface="Open Sans" pitchFamily="34" charset="0"/>
                <a:ea typeface="Open Sans" pitchFamily="34" charset="-122"/>
                <a:cs typeface="Open Sans" pitchFamily="34" charset="-120"/>
              </a:rPr>
              <a:t>IDE (Android Studio/VS Code)</a:t>
            </a:r>
            <a:endParaRPr lang="en-US" sz="3200" dirty="0"/>
          </a:p>
        </p:txBody>
      </p:sp>
      <p:sp>
        <p:nvSpPr>
          <p:cNvPr id="13" name="Shape 10"/>
          <p:cNvSpPr/>
          <p:nvPr/>
        </p:nvSpPr>
        <p:spPr>
          <a:xfrm>
            <a:off x="1358622" y="6478191"/>
            <a:ext cx="793790" cy="30480"/>
          </a:xfrm>
          <a:prstGeom prst="roundRect">
            <a:avLst>
              <a:gd name="adj" fmla="val 312558"/>
            </a:avLst>
          </a:prstGeom>
          <a:solidFill>
            <a:srgbClr val="BCDBD4"/>
          </a:solidFill>
          <a:ln/>
        </p:spPr>
      </p:sp>
      <p:sp>
        <p:nvSpPr>
          <p:cNvPr id="14" name="Shape 11"/>
          <p:cNvSpPr/>
          <p:nvPr/>
        </p:nvSpPr>
        <p:spPr>
          <a:xfrm>
            <a:off x="878800" y="6238280"/>
            <a:ext cx="510302" cy="510302"/>
          </a:xfrm>
          <a:prstGeom prst="roundRect">
            <a:avLst>
              <a:gd name="adj" fmla="val 18669"/>
            </a:avLst>
          </a:prstGeom>
          <a:solidFill>
            <a:srgbClr val="D6F5EE"/>
          </a:solidFill>
          <a:ln w="7620">
            <a:solidFill>
              <a:srgbClr val="BCDBD4"/>
            </a:solidFill>
            <a:prstDash val="solid"/>
          </a:ln>
        </p:spPr>
      </p:sp>
      <p:sp>
        <p:nvSpPr>
          <p:cNvPr id="15" name="Text 12"/>
          <p:cNvSpPr/>
          <p:nvPr/>
        </p:nvSpPr>
        <p:spPr>
          <a:xfrm>
            <a:off x="991195" y="6380440"/>
            <a:ext cx="285512" cy="340281"/>
          </a:xfrm>
          <a:prstGeom prst="rect">
            <a:avLst/>
          </a:prstGeom>
          <a:noFill/>
          <a:ln/>
        </p:spPr>
        <p:txBody>
          <a:bodyPr wrap="none" lIns="0" tIns="0" rIns="0" bIns="0" rtlCol="0" anchor="t"/>
          <a:lstStyle/>
          <a:p>
            <a:pPr marL="0" indent="0" algn="ctr">
              <a:lnSpc>
                <a:spcPts val="2650"/>
              </a:lnSpc>
              <a:buNone/>
            </a:pPr>
            <a:r>
              <a:rPr lang="en-US" sz="3600" b="1" dirty="0">
                <a:solidFill>
                  <a:srgbClr val="333F70"/>
                </a:solidFill>
                <a:latin typeface="Unbounded Bold" pitchFamily="34" charset="0"/>
                <a:ea typeface="Unbounded Bold" pitchFamily="34" charset="-122"/>
                <a:cs typeface="Unbounded Bold" pitchFamily="34" charset="-120"/>
              </a:rPr>
              <a:t>3</a:t>
            </a:r>
            <a:endParaRPr lang="en-US" sz="3600" dirty="0"/>
          </a:p>
        </p:txBody>
      </p:sp>
      <p:sp>
        <p:nvSpPr>
          <p:cNvPr id="16" name="Text 13"/>
          <p:cNvSpPr/>
          <p:nvPr/>
        </p:nvSpPr>
        <p:spPr>
          <a:xfrm>
            <a:off x="2381488" y="6209943"/>
            <a:ext cx="5968722" cy="362903"/>
          </a:xfrm>
          <a:prstGeom prst="rect">
            <a:avLst/>
          </a:prstGeom>
          <a:noFill/>
          <a:ln/>
        </p:spPr>
        <p:txBody>
          <a:bodyPr wrap="none" lIns="0" tIns="0" rIns="0" bIns="0" rtlCol="0" anchor="t"/>
          <a:lstStyle/>
          <a:p>
            <a:pPr marL="0" indent="0" algn="l">
              <a:lnSpc>
                <a:spcPts val="2850"/>
              </a:lnSpc>
              <a:buNone/>
            </a:pPr>
            <a:r>
              <a:rPr lang="en-US" sz="3200" dirty="0">
                <a:solidFill>
                  <a:srgbClr val="333F70"/>
                </a:solidFill>
                <a:latin typeface="Open Sans" pitchFamily="34" charset="0"/>
                <a:ea typeface="Open Sans" pitchFamily="34" charset="-122"/>
                <a:cs typeface="Open Sans" pitchFamily="34" charset="-120"/>
              </a:rPr>
              <a:t>Codeigniter</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451390" y="862132"/>
            <a:ext cx="9385221" cy="1417558"/>
          </a:xfrm>
          <a:prstGeom prst="rect">
            <a:avLst/>
          </a:prstGeom>
          <a:noFill/>
          <a:ln/>
        </p:spPr>
        <p:txBody>
          <a:bodyPr wrap="square" lIns="0" tIns="0" rIns="0" bIns="0" rtlCol="0" anchor="t"/>
          <a:lstStyle/>
          <a:p>
            <a:pPr marL="0" indent="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Komponen-komponen dalam Proyek Vigenesia</a:t>
            </a:r>
            <a:endParaRPr lang="en-US" sz="4450" dirty="0"/>
          </a:p>
        </p:txBody>
      </p:sp>
      <p:pic>
        <p:nvPicPr>
          <p:cNvPr id="4" name="Image 1"/>
          <p:cNvPicPr>
            <a:picLocks noChangeAspect="1"/>
          </p:cNvPicPr>
          <p:nvPr/>
        </p:nvPicPr>
        <p:blipFill>
          <a:blip r:embed="rId4"/>
          <a:srcRect/>
          <a:stretch/>
        </p:blipFill>
        <p:spPr>
          <a:xfrm>
            <a:off x="4496517" y="2997041"/>
            <a:ext cx="476722" cy="566976"/>
          </a:xfrm>
          <a:prstGeom prst="rect">
            <a:avLst/>
          </a:prstGeom>
        </p:spPr>
      </p:pic>
      <p:sp>
        <p:nvSpPr>
          <p:cNvPr id="5" name="Text 1"/>
          <p:cNvSpPr/>
          <p:nvPr/>
        </p:nvSpPr>
        <p:spPr>
          <a:xfrm>
            <a:off x="4451390" y="4419481"/>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CodeIgniter</a:t>
            </a:r>
            <a:endParaRPr lang="en-US" sz="2800" dirty="0"/>
          </a:p>
        </p:txBody>
      </p:sp>
      <p:sp>
        <p:nvSpPr>
          <p:cNvPr id="6" name="Text 2"/>
          <p:cNvSpPr/>
          <p:nvPr/>
        </p:nvSpPr>
        <p:spPr>
          <a:xfrm>
            <a:off x="4451390" y="4909899"/>
            <a:ext cx="4522470" cy="1451610"/>
          </a:xfrm>
          <a:prstGeom prst="rect">
            <a:avLst/>
          </a:prstGeom>
          <a:noFill/>
          <a:ln/>
        </p:spPr>
        <p:txBody>
          <a:bodyPr wrap="squar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Berperan sebagai framework back-end yang digunakan untuk mengelola database, membangun RESTful API, dan menangani logika aplikasi di server.</a:t>
            </a:r>
            <a:endParaRPr lang="en-US" sz="2000" dirty="0"/>
          </a:p>
        </p:txBody>
      </p:sp>
      <p:pic>
        <p:nvPicPr>
          <p:cNvPr id="7" name="Image 2"/>
          <p:cNvPicPr>
            <a:picLocks noChangeAspect="1"/>
          </p:cNvPicPr>
          <p:nvPr/>
        </p:nvPicPr>
        <p:blipFill>
          <a:blip r:embed="rId5"/>
          <a:srcRect/>
          <a:stretch/>
        </p:blipFill>
        <p:spPr>
          <a:xfrm>
            <a:off x="9369585" y="2997041"/>
            <a:ext cx="455848" cy="566976"/>
          </a:xfrm>
          <a:prstGeom prst="rect">
            <a:avLst/>
          </a:prstGeom>
        </p:spPr>
      </p:pic>
      <p:sp>
        <p:nvSpPr>
          <p:cNvPr id="8" name="Text 3"/>
          <p:cNvSpPr/>
          <p:nvPr/>
        </p:nvSpPr>
        <p:spPr>
          <a:xfrm>
            <a:off x="9314021" y="4419481"/>
            <a:ext cx="2835235" cy="354330"/>
          </a:xfrm>
          <a:prstGeom prst="rect">
            <a:avLst/>
          </a:prstGeom>
          <a:noFill/>
          <a:ln/>
        </p:spPr>
        <p:txBody>
          <a:bodyPr wrap="none" lIns="0" tIns="0" rIns="0" bIns="0" rtlCol="0" anchor="t"/>
          <a:lstStyle/>
          <a:p>
            <a:pPr marL="0" indent="0" algn="l">
              <a:lnSpc>
                <a:spcPts val="2750"/>
              </a:lnSpc>
              <a:buNone/>
            </a:pPr>
            <a:r>
              <a:rPr lang="en-US" sz="2800" b="1" dirty="0">
                <a:solidFill>
                  <a:srgbClr val="333F70"/>
                </a:solidFill>
                <a:latin typeface="Unbounded Bold" pitchFamily="34" charset="0"/>
                <a:ea typeface="Unbounded Bold" pitchFamily="34" charset="-122"/>
                <a:cs typeface="Unbounded Bold" pitchFamily="34" charset="-120"/>
              </a:rPr>
              <a:t>Flutter</a:t>
            </a:r>
            <a:endParaRPr lang="en-US" sz="2800" dirty="0"/>
          </a:p>
        </p:txBody>
      </p:sp>
      <p:sp>
        <p:nvSpPr>
          <p:cNvPr id="9" name="Text 4"/>
          <p:cNvSpPr/>
          <p:nvPr/>
        </p:nvSpPr>
        <p:spPr>
          <a:xfrm>
            <a:off x="9314021" y="4909899"/>
            <a:ext cx="4522589" cy="1451610"/>
          </a:xfrm>
          <a:prstGeom prst="rect">
            <a:avLst/>
          </a:prstGeom>
          <a:noFill/>
          <a:ln/>
        </p:spPr>
        <p:txBody>
          <a:bodyPr wrap="square" lIns="0" tIns="0" rIns="0" bIns="0" rtlCol="0" anchor="t"/>
          <a:lstStyle/>
          <a:p>
            <a:pPr marL="0" indent="0" algn="l">
              <a:lnSpc>
                <a:spcPts val="2850"/>
              </a:lnSpc>
              <a:buNone/>
            </a:pPr>
            <a:r>
              <a:rPr lang="en-US" sz="2000" dirty="0">
                <a:solidFill>
                  <a:srgbClr val="333F70"/>
                </a:solidFill>
                <a:latin typeface="Open Sans" pitchFamily="34" charset="0"/>
                <a:ea typeface="Open Sans" pitchFamily="34" charset="-122"/>
                <a:cs typeface="Open Sans" pitchFamily="34" charset="-120"/>
              </a:rPr>
              <a:t>Berfungsi sebagai framework front-end untuk mengembangkan antarmuka aplikasi yang menarik, interaktif, dan dapat berjalan di berbagai platform.</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793790" y="563047"/>
            <a:ext cx="7556421" cy="1417558"/>
          </a:xfrm>
          <a:prstGeom prst="rect">
            <a:avLst/>
          </a:prstGeom>
          <a:noFill/>
          <a:ln/>
        </p:spPr>
        <p:txBody>
          <a:bodyPr wrap="square" lIns="0" tIns="0" rIns="0" bIns="0" rtlCol="0" anchor="t"/>
          <a:lstStyle/>
          <a:p>
            <a:pPr marL="0" indent="0">
              <a:lnSpc>
                <a:spcPts val="5550"/>
              </a:lnSpc>
              <a:buNone/>
            </a:pPr>
            <a:r>
              <a:rPr lang="en-US" sz="4800" b="1" dirty="0">
                <a:solidFill>
                  <a:srgbClr val="333F70"/>
                </a:solidFill>
                <a:latin typeface="Unbounded Bold" pitchFamily="34" charset="0"/>
                <a:ea typeface="Unbounded Bold" pitchFamily="34" charset="-122"/>
                <a:cs typeface="Unbounded Bold" pitchFamily="34" charset="-120"/>
              </a:rPr>
              <a:t>Tampilan Proyek Vigenesia</a:t>
            </a:r>
            <a:endParaRPr lang="en-US" sz="4800" dirty="0"/>
          </a:p>
        </p:txBody>
      </p:sp>
      <p:pic>
        <p:nvPicPr>
          <p:cNvPr id="4" name="Image 1" descr="preencoded.png"/>
          <p:cNvPicPr>
            <a:picLocks noChangeAspect="1"/>
          </p:cNvPicPr>
          <p:nvPr/>
        </p:nvPicPr>
        <p:blipFill>
          <a:blip r:embed="rId3"/>
          <a:stretch>
            <a:fillRect/>
          </a:stretch>
        </p:blipFill>
        <p:spPr>
          <a:xfrm>
            <a:off x="793790" y="2960846"/>
            <a:ext cx="1134070" cy="2032754"/>
          </a:xfrm>
          <a:prstGeom prst="rect">
            <a:avLst/>
          </a:prstGeom>
        </p:spPr>
      </p:pic>
      <p:sp>
        <p:nvSpPr>
          <p:cNvPr id="5" name="Text 1"/>
          <p:cNvSpPr/>
          <p:nvPr/>
        </p:nvSpPr>
        <p:spPr>
          <a:xfrm>
            <a:off x="2268022" y="3187660"/>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333F70"/>
                </a:solidFill>
                <a:latin typeface="Unbounded Bold" pitchFamily="34" charset="0"/>
                <a:ea typeface="Unbounded Bold" pitchFamily="34" charset="-122"/>
                <a:cs typeface="Unbounded Bold" pitchFamily="34" charset="-120"/>
              </a:rPr>
              <a:t>Halaman Login</a:t>
            </a:r>
            <a:endParaRPr lang="en-US" sz="2400" dirty="0"/>
          </a:p>
        </p:txBody>
      </p:sp>
      <p:sp>
        <p:nvSpPr>
          <p:cNvPr id="6" name="Text 2"/>
          <p:cNvSpPr/>
          <p:nvPr/>
        </p:nvSpPr>
        <p:spPr>
          <a:xfrm>
            <a:off x="2268022" y="3678079"/>
            <a:ext cx="6082189" cy="1088708"/>
          </a:xfrm>
          <a:prstGeom prst="rect">
            <a:avLst/>
          </a:prstGeom>
          <a:noFill/>
          <a:ln/>
        </p:spPr>
        <p:txBody>
          <a:bodyPr wrap="square" lIns="0" tIns="0" rIns="0" bIns="0" rtlCol="0" anchor="t"/>
          <a:lstStyle/>
          <a:p>
            <a:pPr marL="0" indent="0" algn="l">
              <a:lnSpc>
                <a:spcPts val="2850"/>
              </a:lnSpc>
              <a:buNone/>
            </a:pPr>
            <a:r>
              <a:rPr lang="en-US" dirty="0">
                <a:solidFill>
                  <a:srgbClr val="333F70"/>
                </a:solidFill>
                <a:latin typeface="Open Sans" pitchFamily="34" charset="0"/>
                <a:ea typeface="Open Sans" pitchFamily="34" charset="-122"/>
                <a:cs typeface="Open Sans" pitchFamily="34" charset="-120"/>
              </a:rPr>
              <a:t>Halaman ini berfungsi sebagai gerbang awal bagi pengguna untuk memasukkan kredensial dan mengakses aplikasi secara aman.</a:t>
            </a:r>
            <a:endParaRPr lang="en-US" dirty="0"/>
          </a:p>
        </p:txBody>
      </p:sp>
      <p:pic>
        <p:nvPicPr>
          <p:cNvPr id="7" name="Image 2" descr="preencoded.png"/>
          <p:cNvPicPr>
            <a:picLocks noChangeAspect="1"/>
          </p:cNvPicPr>
          <p:nvPr/>
        </p:nvPicPr>
        <p:blipFill>
          <a:blip r:embed="rId4"/>
          <a:stretch>
            <a:fillRect/>
          </a:stretch>
        </p:blipFill>
        <p:spPr>
          <a:xfrm>
            <a:off x="793790" y="4993600"/>
            <a:ext cx="1134070" cy="2032754"/>
          </a:xfrm>
          <a:prstGeom prst="rect">
            <a:avLst/>
          </a:prstGeom>
        </p:spPr>
      </p:pic>
      <p:sp>
        <p:nvSpPr>
          <p:cNvPr id="8" name="Text 3"/>
          <p:cNvSpPr/>
          <p:nvPr/>
        </p:nvSpPr>
        <p:spPr>
          <a:xfrm>
            <a:off x="2268022" y="5220414"/>
            <a:ext cx="2917627" cy="354330"/>
          </a:xfrm>
          <a:prstGeom prst="rect">
            <a:avLst/>
          </a:prstGeom>
          <a:noFill/>
          <a:ln/>
        </p:spPr>
        <p:txBody>
          <a:bodyPr wrap="none" lIns="0" tIns="0" rIns="0" bIns="0" rtlCol="0" anchor="t"/>
          <a:lstStyle/>
          <a:p>
            <a:pPr marL="0" indent="0" algn="l">
              <a:lnSpc>
                <a:spcPts val="2750"/>
              </a:lnSpc>
              <a:buNone/>
            </a:pPr>
            <a:r>
              <a:rPr lang="en-US" sz="2400" b="1" dirty="0">
                <a:solidFill>
                  <a:srgbClr val="333F70"/>
                </a:solidFill>
                <a:latin typeface="Unbounded Bold" pitchFamily="34" charset="0"/>
                <a:ea typeface="Unbounded Bold" pitchFamily="34" charset="-122"/>
                <a:cs typeface="Unbounded Bold" pitchFamily="34" charset="-120"/>
              </a:rPr>
              <a:t>Halaman Utama</a:t>
            </a:r>
            <a:endParaRPr lang="en-US" sz="2400" dirty="0"/>
          </a:p>
        </p:txBody>
      </p:sp>
      <p:sp>
        <p:nvSpPr>
          <p:cNvPr id="9" name="Text 4"/>
          <p:cNvSpPr/>
          <p:nvPr/>
        </p:nvSpPr>
        <p:spPr>
          <a:xfrm>
            <a:off x="2268022" y="5710833"/>
            <a:ext cx="6082189" cy="1088708"/>
          </a:xfrm>
          <a:prstGeom prst="rect">
            <a:avLst/>
          </a:prstGeom>
          <a:noFill/>
          <a:ln/>
        </p:spPr>
        <p:txBody>
          <a:bodyPr wrap="square" lIns="0" tIns="0" rIns="0" bIns="0" rtlCol="0" anchor="t"/>
          <a:lstStyle/>
          <a:p>
            <a:pPr marL="0" indent="0" algn="l">
              <a:lnSpc>
                <a:spcPts val="2850"/>
              </a:lnSpc>
              <a:buNone/>
            </a:pPr>
            <a:r>
              <a:rPr lang="en-US" dirty="0">
                <a:solidFill>
                  <a:srgbClr val="333F70"/>
                </a:solidFill>
                <a:latin typeface="Open Sans" pitchFamily="34" charset="0"/>
                <a:ea typeface="Open Sans" pitchFamily="34" charset="-122"/>
                <a:cs typeface="Open Sans" pitchFamily="34" charset="-120"/>
              </a:rPr>
              <a:t>Halaman ini menampilkan fitur utama aplikasi, memberikan akses mudah ke berbagai layanan dan informasi yang tersedia.</a:t>
            </a:r>
            <a:endParaRPr lang="en-US" dirty="0"/>
          </a:p>
        </p:txBody>
      </p:sp>
      <p:pic>
        <p:nvPicPr>
          <p:cNvPr id="11" name="Gambar 10">
            <a:extLst>
              <a:ext uri="{FF2B5EF4-FFF2-40B4-BE49-F238E27FC236}">
                <a16:creationId xmlns:a16="http://schemas.microsoft.com/office/drawing/2014/main" id="{01B4C4C6-B30D-E366-468D-F8B675B7027F}"/>
              </a:ext>
            </a:extLst>
          </p:cNvPr>
          <p:cNvPicPr>
            <a:picLocks noChangeAspect="1"/>
          </p:cNvPicPr>
          <p:nvPr/>
        </p:nvPicPr>
        <p:blipFill>
          <a:blip r:embed="rId5"/>
          <a:srcRect l="1355"/>
          <a:stretch/>
        </p:blipFill>
        <p:spPr>
          <a:xfrm>
            <a:off x="8435340" y="0"/>
            <a:ext cx="6195059" cy="8229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97142"/>
            <a:ext cx="7556421" cy="2126337"/>
          </a:xfrm>
          <a:prstGeom prst="rect">
            <a:avLst/>
          </a:prstGeom>
          <a:noFill/>
          <a:ln/>
        </p:spPr>
        <p:txBody>
          <a:bodyPr wrap="square" lIns="0" tIns="0" rIns="0" bIns="0" rtlCol="0" anchor="t"/>
          <a:lstStyle/>
          <a:p>
            <a:pPr marL="0" indent="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Kesimpulan</a:t>
            </a:r>
            <a:endParaRPr lang="en-US" sz="4450" dirty="0"/>
          </a:p>
        </p:txBody>
      </p:sp>
      <p:sp>
        <p:nvSpPr>
          <p:cNvPr id="4" name="Text 1"/>
          <p:cNvSpPr/>
          <p:nvPr/>
        </p:nvSpPr>
        <p:spPr>
          <a:xfrm>
            <a:off x="793790" y="3929301"/>
            <a:ext cx="7556421" cy="2540318"/>
          </a:xfrm>
          <a:prstGeom prst="rect">
            <a:avLst/>
          </a:prstGeom>
          <a:noFill/>
          <a:ln/>
        </p:spPr>
        <p:txBody>
          <a:bodyPr wrap="square" lIns="0" tIns="0" rIns="0" bIns="0" rtlCol="0" anchor="t"/>
          <a:lstStyle/>
          <a:p>
            <a:pPr marL="0" indent="0">
              <a:lnSpc>
                <a:spcPts val="2850"/>
              </a:lnSpc>
              <a:buNone/>
            </a:pPr>
            <a:r>
              <a:rPr lang="en-US" sz="2000" dirty="0">
                <a:solidFill>
                  <a:srgbClr val="333F70"/>
                </a:solidFill>
                <a:latin typeface="Open Sans" pitchFamily="34" charset="0"/>
                <a:ea typeface="Open Sans" pitchFamily="34" charset="-122"/>
                <a:cs typeface="Open Sans" pitchFamily="34" charset="-120"/>
              </a:rPr>
              <a:t>Proyek Vigenesia adalah inisiatif pembelajaran yang mengintegrasikan teknologi modern untuk mengasah keterampilan teknis dan kolaboratif mahasiswa UBSI. Jika proyek ini berjalan lancar, hasilnya akan memberikan pengalaman berharga dalam pengembangan aplikasi berbasis layanan web, membangun kepercayaan diri mahasiswa untuk menghadapi tantangan industri teknologi, serta menghasilkan solusi digital yang relevan dan inovatif.</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465</Words>
  <Application>Microsoft Office PowerPoint</Application>
  <PresentationFormat>Kustom</PresentationFormat>
  <Paragraphs>49</Paragraphs>
  <Slides>10</Slides>
  <Notes>10</Notes>
  <HiddenSlides>0</HiddenSlides>
  <MMClips>0</MMClips>
  <ScaleCrop>false</ScaleCrop>
  <HeadingPairs>
    <vt:vector size="6" baseType="variant">
      <vt:variant>
        <vt:lpstr>Font Dipakai</vt:lpstr>
      </vt:variant>
      <vt:variant>
        <vt:i4>3</vt:i4>
      </vt:variant>
      <vt:variant>
        <vt:lpstr>Tema</vt:lpstr>
      </vt:variant>
      <vt:variant>
        <vt:i4>1</vt:i4>
      </vt:variant>
      <vt:variant>
        <vt:lpstr>Judul Slide</vt:lpstr>
      </vt:variant>
      <vt:variant>
        <vt:i4>10</vt:i4>
      </vt:variant>
    </vt:vector>
  </HeadingPairs>
  <TitlesOfParts>
    <vt:vector size="14" baseType="lpstr">
      <vt:lpstr>Open Sans</vt:lpstr>
      <vt:lpstr>Unbounded Bold</vt:lpstr>
      <vt:lpstr>Arial</vt:lpstr>
      <vt:lpstr>Office Theme</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polygon stratos</cp:lastModifiedBy>
  <cp:revision>3</cp:revision>
  <dcterms:created xsi:type="dcterms:W3CDTF">2024-12-06T10:16:57Z</dcterms:created>
  <dcterms:modified xsi:type="dcterms:W3CDTF">2024-12-06T10:38:12Z</dcterms:modified>
</cp:coreProperties>
</file>